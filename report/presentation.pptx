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202" d="100"/>
          <a:sy n="202" d="100"/>
        </p:scale>
        <p:origin x="54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Skill gap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Készséghiány-elemz</a:t>
            </a:r>
            <a:r>
              <a:rPr lang="en-US" dirty="0" err="1"/>
              <a:t>ő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 program </a:t>
            </a:r>
            <a:r>
              <a:rPr dirty="0" err="1"/>
              <a:t>célja</a:t>
            </a:r>
            <a:endParaRPr dirty="0"/>
          </a:p>
        </p:txBody>
      </p:sp>
      <p:pic>
        <p:nvPicPr>
          <p:cNvPr id="3" name="Picture 1" descr="img/ui-analysi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08100"/>
            <a:ext cx="4038600" cy="314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lvl="0"/>
            <a:r>
              <a:rPr sz="2000" b="1" dirty="0" err="1"/>
              <a:t>Bemenet</a:t>
            </a:r>
            <a:r>
              <a:rPr sz="2000" b="1" dirty="0"/>
              <a:t>:</a:t>
            </a:r>
            <a:r>
              <a:rPr sz="2000" dirty="0"/>
              <a:t> </a:t>
            </a:r>
            <a:r>
              <a:rPr sz="2000" dirty="0" err="1"/>
              <a:t>személy</a:t>
            </a:r>
            <a:r>
              <a:rPr sz="2000" dirty="0"/>
              <a:t> </a:t>
            </a:r>
            <a:r>
              <a:rPr sz="2000" dirty="0" err="1"/>
              <a:t>és</a:t>
            </a:r>
            <a:r>
              <a:rPr sz="2000" dirty="0"/>
              <a:t> </a:t>
            </a:r>
            <a:r>
              <a:rPr sz="2000" dirty="0" err="1"/>
              <a:t>célfoglalkozás</a:t>
            </a:r>
            <a:r>
              <a:rPr sz="2000" dirty="0"/>
              <a:t> (ESCO, 87 </a:t>
            </a:r>
            <a:r>
              <a:rPr sz="2000" dirty="0" err="1"/>
              <a:t>informatikai</a:t>
            </a:r>
            <a:r>
              <a:rPr sz="2000" dirty="0"/>
              <a:t> </a:t>
            </a:r>
            <a:r>
              <a:rPr sz="2000" dirty="0" err="1"/>
              <a:t>foglalkozás</a:t>
            </a:r>
            <a:r>
              <a:rPr sz="2000" dirty="0"/>
              <a:t>)</a:t>
            </a:r>
          </a:p>
          <a:p>
            <a:pPr lvl="0"/>
            <a:r>
              <a:rPr sz="2000" b="1" dirty="0" err="1"/>
              <a:t>Döntés</a:t>
            </a:r>
            <a:r>
              <a:rPr sz="2000" b="1" dirty="0"/>
              <a:t>:</a:t>
            </a:r>
          </a:p>
          <a:p>
            <a:pPr lvl="1"/>
            <a:r>
              <a:rPr sz="1600" b="1" dirty="0"/>
              <a:t>GAP:</a:t>
            </a:r>
            <a:r>
              <a:rPr sz="1600" dirty="0"/>
              <a:t> van </a:t>
            </a:r>
            <a:r>
              <a:rPr sz="1600" dirty="0" err="1"/>
              <a:t>hiányzó</a:t>
            </a:r>
            <a:r>
              <a:rPr sz="1600" dirty="0"/>
              <a:t> </a:t>
            </a:r>
            <a:r>
              <a:rPr sz="1600" dirty="0" err="1"/>
              <a:t>lényeges</a:t>
            </a:r>
            <a:r>
              <a:rPr sz="1600" dirty="0"/>
              <a:t> </a:t>
            </a:r>
            <a:r>
              <a:rPr sz="1600" dirty="0" err="1"/>
              <a:t>készség</a:t>
            </a:r>
            <a:endParaRPr sz="1600" dirty="0"/>
          </a:p>
          <a:p>
            <a:pPr lvl="1"/>
            <a:r>
              <a:rPr sz="1600" b="1" dirty="0"/>
              <a:t>UNKNOWN:</a:t>
            </a:r>
            <a:r>
              <a:rPr sz="1600" dirty="0"/>
              <a:t> van </a:t>
            </a:r>
            <a:r>
              <a:rPr sz="1600" dirty="0" err="1"/>
              <a:t>nem</a:t>
            </a:r>
            <a:r>
              <a:rPr sz="1600" dirty="0"/>
              <a:t> </a:t>
            </a:r>
            <a:r>
              <a:rPr sz="1600" dirty="0" err="1"/>
              <a:t>nyilatkozott</a:t>
            </a:r>
            <a:r>
              <a:rPr sz="1600" dirty="0"/>
              <a:t> </a:t>
            </a:r>
            <a:r>
              <a:rPr sz="1600" dirty="0" err="1"/>
              <a:t>készség</a:t>
            </a:r>
            <a:endParaRPr sz="1600" dirty="0"/>
          </a:p>
          <a:p>
            <a:pPr lvl="1"/>
            <a:r>
              <a:rPr sz="1600" b="1" dirty="0"/>
              <a:t>READY:</a:t>
            </a:r>
            <a:r>
              <a:rPr sz="1600" dirty="0"/>
              <a:t> </a:t>
            </a:r>
            <a:r>
              <a:rPr sz="1600" dirty="0" err="1"/>
              <a:t>minden</a:t>
            </a:r>
            <a:r>
              <a:rPr sz="1600" dirty="0"/>
              <a:t> </a:t>
            </a:r>
            <a:r>
              <a:rPr sz="1600" dirty="0" err="1"/>
              <a:t>megvan</a:t>
            </a:r>
            <a:r>
              <a:rPr sz="1600" dirty="0"/>
              <a:t> </a:t>
            </a:r>
            <a:r>
              <a:rPr sz="1600" dirty="0" err="1"/>
              <a:t>vagy</a:t>
            </a:r>
            <a:r>
              <a:rPr sz="1600" dirty="0"/>
              <a:t> </a:t>
            </a:r>
            <a:r>
              <a:rPr sz="1600" dirty="0" err="1"/>
              <a:t>lefedett</a:t>
            </a:r>
            <a:endParaRPr sz="1600" dirty="0"/>
          </a:p>
          <a:p>
            <a:pPr lvl="0"/>
            <a:r>
              <a:rPr sz="2000" b="1" dirty="0" err="1"/>
              <a:t>Lefedett</a:t>
            </a:r>
            <a:r>
              <a:rPr sz="2000" b="1" dirty="0"/>
              <a:t>:</a:t>
            </a:r>
            <a:r>
              <a:rPr sz="2000" dirty="0"/>
              <a:t> </a:t>
            </a:r>
            <a:r>
              <a:rPr sz="2000" dirty="0" err="1"/>
              <a:t>egy</a:t>
            </a:r>
            <a:r>
              <a:rPr sz="2000" dirty="0"/>
              <a:t> </a:t>
            </a:r>
            <a:r>
              <a:rPr sz="2000" dirty="0" err="1"/>
              <a:t>szűkebb</a:t>
            </a:r>
            <a:r>
              <a:rPr sz="2000" dirty="0"/>
              <a:t> </a:t>
            </a:r>
            <a:r>
              <a:rPr sz="2000" dirty="0" err="1"/>
              <a:t>meglévő</a:t>
            </a:r>
            <a:r>
              <a:rPr sz="2000" dirty="0"/>
              <a:t> </a:t>
            </a:r>
            <a:r>
              <a:rPr sz="2000" dirty="0" err="1"/>
              <a:t>készség</a:t>
            </a:r>
            <a:r>
              <a:rPr sz="2000" dirty="0"/>
              <a:t>, pl. </a:t>
            </a:r>
            <a:r>
              <a:rPr sz="2000" i="1" dirty="0"/>
              <a:t>via SPARQL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Adatmodell: két forrás, négy másolat</a:t>
            </a:r>
          </a:p>
        </p:txBody>
      </p:sp>
      <p:pic>
        <p:nvPicPr>
          <p:cNvPr id="3" name="Picture 1" descr="img/model-architectur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5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PostgreSQL: üzleti entitások és döntések</a:t>
            </a:r>
          </a:p>
        </p:txBody>
      </p:sp>
      <p:pic>
        <p:nvPicPr>
          <p:cNvPr id="3" name="Picture 1" descr="img/model-postgr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283046"/>
            <a:ext cx="3759200" cy="321240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MongoDB és Redis</a:t>
            </a:r>
          </a:p>
        </p:txBody>
      </p:sp>
      <p:pic>
        <p:nvPicPr>
          <p:cNvPr id="3" name="Picture 1" descr="img/model-stor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12800" y="1269773"/>
            <a:ext cx="7518400" cy="32389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Neo4j: foglalkozás, készség, hierarchia</a:t>
            </a:r>
          </a:p>
        </p:txBody>
      </p:sp>
      <p:pic>
        <p:nvPicPr>
          <p:cNvPr id="3" name="Picture 1" descr="img/model-graph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66900"/>
            <a:ext cx="40386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t>965 csomópont, 256 </a:t>
            </a:r>
            <a:r>
              <a:rPr>
                <a:latin typeface="Courier"/>
              </a:rPr>
              <a:t>BROADER</a:t>
            </a:r>
            <a:r>
              <a:t> él</a:t>
            </a:r>
          </a:p>
          <a:p>
            <a:pPr lvl="0"/>
            <a:r>
              <a:t>Lefedés: </a:t>
            </a:r>
            <a:r>
              <a:rPr>
                <a:latin typeface="Courier"/>
              </a:rPr>
              <a:t>(narrower)-[:BROADER*1..]-&gt;(required)</a:t>
            </a:r>
          </a:p>
          <a:p>
            <a:pPr lvl="0"/>
            <a:r>
              <a:t>Egy meglévő szűkebb készség lefedi a tágabbat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pgvector és Qdrant: azonos vektorok</a:t>
            </a:r>
          </a:p>
        </p:txBody>
      </p:sp>
      <p:pic>
        <p:nvPicPr>
          <p:cNvPr id="3" name="Picture 1" descr="img/model-vector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69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Vektoros keresés a felületen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Qdrant:</a:t>
            </a:r>
            <a:r>
              <a:t> foglalkozás szabad szövegre</a:t>
            </a:r>
          </a:p>
        </p:txBody>
      </p:sp>
      <p:pic>
        <p:nvPicPr>
          <p:cNvPr id="4" name="Picture 1" descr="img/ui-search-qdra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16100"/>
            <a:ext cx="4038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pgvector:</a:t>
            </a:r>
            <a:r>
              <a:t> készség, egy SQL-ben összekapcsolva a </a:t>
            </a:r>
            <a:r>
              <a:rPr>
                <a:latin typeface="Courier"/>
              </a:rPr>
              <a:t>person_skills</a:t>
            </a:r>
            <a:r>
              <a:t> táblával</a:t>
            </a:r>
          </a:p>
        </p:txBody>
      </p:sp>
      <p:pic>
        <p:nvPicPr>
          <p:cNvPr id="6" name="Picture 1" descr="img/ui-search-pgvector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35500" y="1816100"/>
            <a:ext cx="4038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Mérési terv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sz="2000" b="1" dirty="0"/>
              <a:t>30 </a:t>
            </a:r>
            <a:r>
              <a:rPr sz="2000" b="1" dirty="0" err="1"/>
              <a:t>döntési</a:t>
            </a:r>
            <a:r>
              <a:rPr sz="2000" b="1" dirty="0"/>
              <a:t> </a:t>
            </a:r>
            <a:r>
              <a:rPr sz="2000" b="1" dirty="0" err="1"/>
              <a:t>eset</a:t>
            </a:r>
            <a:r>
              <a:rPr sz="2000" b="1" dirty="0"/>
              <a:t>:</a:t>
            </a:r>
            <a:r>
              <a:rPr sz="2000" dirty="0"/>
              <a:t> 10 READY, 10 GAP, 10 UNKNOWN</a:t>
            </a:r>
            <a:endParaRPr lang="en-US" sz="2000" dirty="0"/>
          </a:p>
          <a:p>
            <a:pPr lvl="0"/>
            <a:r>
              <a:rPr sz="2000" b="1" dirty="0"/>
              <a:t>20 </a:t>
            </a:r>
            <a:r>
              <a:rPr sz="2000" b="1" dirty="0" err="1"/>
              <a:t>keresési</a:t>
            </a:r>
            <a:r>
              <a:rPr sz="2000" b="1" dirty="0"/>
              <a:t> </a:t>
            </a:r>
            <a:r>
              <a:rPr sz="2000" b="1" dirty="0" err="1"/>
              <a:t>lekérdezés</a:t>
            </a:r>
            <a:r>
              <a:rPr sz="2000" b="1" dirty="0"/>
              <a:t>:</a:t>
            </a:r>
            <a:r>
              <a:rPr sz="2000" dirty="0"/>
              <a:t> ESCO </a:t>
            </a:r>
            <a:r>
              <a:rPr sz="2000" dirty="0" err="1"/>
              <a:t>alternatív</a:t>
            </a:r>
            <a:r>
              <a:rPr sz="2000" dirty="0"/>
              <a:t> </a:t>
            </a:r>
            <a:r>
              <a:rPr sz="2000" dirty="0" err="1"/>
              <a:t>nevek</a:t>
            </a:r>
            <a:r>
              <a:rPr sz="2000" dirty="0"/>
              <a:t>, recall@5 </a:t>
            </a:r>
            <a:r>
              <a:rPr sz="2000" dirty="0" err="1"/>
              <a:t>és</a:t>
            </a:r>
            <a:r>
              <a:rPr sz="2000" dirty="0"/>
              <a:t> MRR@10</a:t>
            </a:r>
          </a:p>
          <a:p>
            <a:pPr lvl="0"/>
            <a:r>
              <a:rPr sz="2000" b="1" dirty="0"/>
              <a:t>ANN recall@10:</a:t>
            </a:r>
            <a:r>
              <a:rPr sz="2000" dirty="0"/>
              <a:t> HNSW top-10 a </a:t>
            </a:r>
            <a:r>
              <a:rPr sz="2000" dirty="0" err="1"/>
              <a:t>pontos</a:t>
            </a:r>
            <a:r>
              <a:rPr sz="2000" dirty="0"/>
              <a:t> top-10-hez </a:t>
            </a:r>
            <a:r>
              <a:rPr sz="2000" dirty="0" err="1"/>
              <a:t>képest</a:t>
            </a:r>
            <a:r>
              <a:rPr sz="2000" dirty="0"/>
              <a:t>, </a:t>
            </a:r>
            <a:r>
              <a:rPr sz="2000" dirty="0" err="1"/>
              <a:t>mindkét</a:t>
            </a:r>
            <a:r>
              <a:rPr sz="2000" dirty="0"/>
              <a:t> </a:t>
            </a:r>
            <a:r>
              <a:rPr sz="2000" dirty="0" err="1"/>
              <a:t>rendszerben</a:t>
            </a:r>
            <a:endParaRPr sz="2000" dirty="0"/>
          </a:p>
          <a:p>
            <a:pPr lvl="0"/>
            <a:r>
              <a:rPr sz="2000" b="1" dirty="0" err="1"/>
              <a:t>Szűrt</a:t>
            </a:r>
            <a:r>
              <a:rPr sz="2000" b="1" dirty="0"/>
              <a:t> </a:t>
            </a:r>
            <a:r>
              <a:rPr sz="2000" b="1" dirty="0" err="1"/>
              <a:t>keresés</a:t>
            </a:r>
            <a:r>
              <a:rPr sz="2000" b="1" dirty="0"/>
              <a:t>:</a:t>
            </a:r>
            <a:r>
              <a:rPr sz="2000" dirty="0"/>
              <a:t> ISCO 251</a:t>
            </a:r>
            <a:r>
              <a:rPr lang="en-US" sz="2000" dirty="0"/>
              <a:t> (</a:t>
            </a:r>
            <a:r>
              <a:rPr lang="en-US" sz="2000" dirty="0" err="1"/>
              <a:t>szoftverfejlesztők</a:t>
            </a:r>
            <a:r>
              <a:rPr lang="en-US" sz="2000" dirty="0"/>
              <a:t> </a:t>
            </a:r>
            <a:r>
              <a:rPr lang="en-US" sz="2000" dirty="0" err="1"/>
              <a:t>és</a:t>
            </a:r>
            <a:r>
              <a:rPr lang="en-US" sz="2000" dirty="0"/>
              <a:t> </a:t>
            </a:r>
            <a:r>
              <a:rPr lang="en-US" sz="2000" dirty="0" err="1"/>
              <a:t>elemzők</a:t>
            </a:r>
            <a:r>
              <a:rPr lang="en-US" sz="2000" dirty="0"/>
              <a:t>)</a:t>
            </a:r>
            <a:r>
              <a:rPr sz="2000" dirty="0"/>
              <a:t> (a </a:t>
            </a:r>
            <a:r>
              <a:rPr sz="2000" dirty="0" err="1"/>
              <a:t>sorok</a:t>
            </a:r>
            <a:r>
              <a:rPr sz="2000" dirty="0"/>
              <a:t> 4,6%-a), </a:t>
            </a:r>
            <a:r>
              <a:rPr sz="2000" dirty="0" err="1"/>
              <a:t>találatszám</a:t>
            </a:r>
            <a:r>
              <a:rPr sz="2000" dirty="0"/>
              <a:t>, recall, </a:t>
            </a:r>
            <a:r>
              <a:rPr sz="2000" dirty="0" err="1"/>
              <a:t>késleltetés</a:t>
            </a:r>
            <a:endParaRPr sz="2000" dirty="0"/>
          </a:p>
          <a:p>
            <a:pPr lvl="0"/>
            <a:r>
              <a:rPr sz="2000" dirty="0"/>
              <a:t>Minden </a:t>
            </a:r>
            <a:r>
              <a:rPr sz="2000" dirty="0" err="1"/>
              <a:t>számot</a:t>
            </a:r>
            <a:r>
              <a:rPr sz="2000" dirty="0"/>
              <a:t> a </a:t>
            </a:r>
            <a:r>
              <a:rPr sz="2000" dirty="0">
                <a:latin typeface="Courier"/>
              </a:rPr>
              <a:t>cli.py measure</a:t>
            </a:r>
            <a:r>
              <a:rPr sz="2000" dirty="0"/>
              <a:t> </a:t>
            </a:r>
            <a:r>
              <a:rPr sz="2000" dirty="0" err="1"/>
              <a:t>állít</a:t>
            </a:r>
            <a:r>
              <a:rPr sz="2000" dirty="0"/>
              <a:t> </a:t>
            </a:r>
            <a:r>
              <a:rPr sz="2000" dirty="0" err="1"/>
              <a:t>elő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Eredmények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pgvector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döntési pontosság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recall@5 / MRR@10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0,95 / 0,91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0,95 / 0,91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ANN recall@10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szűrt</a:t>
                      </a:r>
                      <a:r>
                        <a:rPr dirty="0"/>
                        <a:t> recall@10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0,985 és 1,0 között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0,995 és 1,0 között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késleltetés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szűrővel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kb. 51 ms (HTTP-hívással)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kb. 0,5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közös azonosítók a két top-10-ben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10 /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262</Words>
  <Application>Microsoft Office PowerPoint</Application>
  <PresentationFormat>On-screen Show (16:9)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</vt:lpstr>
      <vt:lpstr>Office Theme</vt:lpstr>
      <vt:lpstr>Skill gap</vt:lpstr>
      <vt:lpstr>A program célja</vt:lpstr>
      <vt:lpstr>Adatmodell: két forrás, négy másolat</vt:lpstr>
      <vt:lpstr>PostgreSQL: üzleti entitások és döntések</vt:lpstr>
      <vt:lpstr>MongoDB és Redis</vt:lpstr>
      <vt:lpstr>Neo4j: foglalkozás, készség, hierarchia</vt:lpstr>
      <vt:lpstr>pgvector és Qdrant: azonos vektorok</vt:lpstr>
      <vt:lpstr>Vektoros keresés a felületen</vt:lpstr>
      <vt:lpstr>Mérési terv</vt:lpstr>
      <vt:lpstr>Eredmények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gap</dc:title>
  <dc:creator/>
  <cp:keywords/>
  <cp:lastModifiedBy>Dávid Pataki</cp:lastModifiedBy>
  <cp:revision>5</cp:revision>
  <dcterms:created xsi:type="dcterms:W3CDTF">2026-10-24T13:15:13Z</dcterms:created>
  <dcterms:modified xsi:type="dcterms:W3CDTF">2026-10-24T17:55:27Z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Készséghiány-elemzés öt adatbázissal</vt:lpwstr>
  </property>
</Properties>
</file>